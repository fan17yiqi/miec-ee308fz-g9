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0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5" Type="http://schemas.openxmlformats.org/officeDocument/2006/relationships/tags" Target="../tags/tag218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tags" Target="../tags/tag263.xml"/><Relationship Id="rId7" Type="http://schemas.openxmlformats.org/officeDocument/2006/relationships/tags" Target="../tags/tag262.xml"/><Relationship Id="rId6" Type="http://schemas.openxmlformats.org/officeDocument/2006/relationships/tags" Target="../tags/tag261.xml"/><Relationship Id="rId5" Type="http://schemas.openxmlformats.org/officeDocument/2006/relationships/tags" Target="../tags/tag260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tags" Target="../tags/tag266.xml"/><Relationship Id="rId10" Type="http://schemas.openxmlformats.org/officeDocument/2006/relationships/tags" Target="../tags/tag265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1" Type="http://schemas.openxmlformats.org/officeDocument/2006/relationships/tags" Target="../tags/tag293.xml"/><Relationship Id="rId20" Type="http://schemas.openxmlformats.org/officeDocument/2006/relationships/tags" Target="../tags/tag292.xml"/><Relationship Id="rId2" Type="http://schemas.openxmlformats.org/officeDocument/2006/relationships/tags" Target="../tags/tag274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299.xml"/><Relationship Id="rId2" Type="http://schemas.openxmlformats.org/officeDocument/2006/relationships/tags" Target="../tags/tag298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860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419600"/>
            <a:ext cx="5334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248400" y="3860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248400" y="4419600"/>
            <a:ext cx="5334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9144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5532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8006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84201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5725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172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2184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17780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19621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096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5638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5822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44704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94996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96837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3312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3312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颜色错位-并列-32_34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4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5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5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0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1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2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1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1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22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22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41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4775200"/>
            <a:ext cx="3454400" cy="1473200"/>
          </a:xfrm>
          <a:custGeom>
            <a:avLst/>
            <a:gdLst>
              <a:gd name="connisteX0" fmla="*/ 0 w 3454400"/>
              <a:gd name="connsiteY0" fmla="*/ 0 h 1473200"/>
              <a:gd name="connisteX1" fmla="*/ 3454400 w 3454400"/>
              <a:gd name="connsiteY1" fmla="*/ 0 h 1473200"/>
              <a:gd name="connisteX2" fmla="*/ 3454400 w 3454400"/>
              <a:gd name="connsiteY2" fmla="*/ 1270000 h 1473200"/>
              <a:gd name="connisteX3" fmla="*/ 3251200 w 3454400"/>
              <a:gd name="connsiteY3" fmla="*/ 1473200 h 1473200"/>
              <a:gd name="connisteX4" fmla="*/ 203200 w 3454400"/>
              <a:gd name="connsiteY4" fmla="*/ 1473200 h 1473200"/>
              <a:gd name="connisteX5" fmla="*/ 0 w 3454400"/>
              <a:gd name="connsiteY5" fmla="*/ 1270000 h 1473200"/>
              <a:gd name="connisteX6" fmla="*/ 0 w 34544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473200">
                <a:moveTo>
                  <a:pt x="0" y="0"/>
                </a:moveTo>
                <a:lnTo>
                  <a:pt x="3454400" y="0"/>
                </a:lnTo>
                <a:lnTo>
                  <a:pt x="3454400" y="1270000"/>
                </a:lnTo>
                <a:cubicBezTo>
                  <a:pt x="3454400" y="1382224"/>
                  <a:pt x="3363424" y="1473200"/>
                  <a:pt x="32512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251200 h 3251200"/>
              <a:gd name="connisteX5" fmla="*/ 0 w 3454400"/>
              <a:gd name="connsiteY5" fmla="*/ 3251200 h 3251200"/>
              <a:gd name="connisteX6" fmla="*/ 0 w 3454400"/>
              <a:gd name="connsiteY6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251200"/>
                </a:lnTo>
                <a:lnTo>
                  <a:pt x="0" y="3251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5080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6388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4775200"/>
            <a:ext cx="3454400" cy="1473200"/>
          </a:xfrm>
          <a:custGeom>
            <a:avLst/>
            <a:gdLst>
              <a:gd name="connisteX0" fmla="*/ 0 w 3454400"/>
              <a:gd name="connsiteY0" fmla="*/ 0 h 1473200"/>
              <a:gd name="connisteX1" fmla="*/ 3454400 w 3454400"/>
              <a:gd name="connsiteY1" fmla="*/ 0 h 1473200"/>
              <a:gd name="connisteX2" fmla="*/ 3454400 w 3454400"/>
              <a:gd name="connsiteY2" fmla="*/ 1270000 h 1473200"/>
              <a:gd name="connisteX3" fmla="*/ 3251200 w 3454400"/>
              <a:gd name="connsiteY3" fmla="*/ 1473200 h 1473200"/>
              <a:gd name="connisteX4" fmla="*/ 203200 w 3454400"/>
              <a:gd name="connsiteY4" fmla="*/ 1473200 h 1473200"/>
              <a:gd name="connisteX5" fmla="*/ 0 w 3454400"/>
              <a:gd name="connsiteY5" fmla="*/ 1270000 h 1473200"/>
              <a:gd name="connisteX6" fmla="*/ 0 w 34544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473200">
                <a:moveTo>
                  <a:pt x="0" y="0"/>
                </a:moveTo>
                <a:lnTo>
                  <a:pt x="3454400" y="0"/>
                </a:lnTo>
                <a:lnTo>
                  <a:pt x="3454400" y="1270000"/>
                </a:lnTo>
                <a:cubicBezTo>
                  <a:pt x="3454400" y="1382224"/>
                  <a:pt x="3363424" y="1473200"/>
                  <a:pt x="32512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251200 h 3251200"/>
              <a:gd name="connisteX5" fmla="*/ 0 w 3454400"/>
              <a:gd name="connsiteY5" fmla="*/ 3251200 h 3251200"/>
              <a:gd name="connisteX6" fmla="*/ 0 w 3454400"/>
              <a:gd name="connsiteY6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251200"/>
                </a:lnTo>
                <a:lnTo>
                  <a:pt x="0" y="3251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5080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56388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4775200"/>
            <a:ext cx="3454400" cy="1473200"/>
          </a:xfrm>
          <a:custGeom>
            <a:avLst/>
            <a:gdLst>
              <a:gd name="connisteX0" fmla="*/ 0 w 3454400"/>
              <a:gd name="connsiteY0" fmla="*/ 0 h 1473200"/>
              <a:gd name="connisteX1" fmla="*/ 3454400 w 3454400"/>
              <a:gd name="connsiteY1" fmla="*/ 0 h 1473200"/>
              <a:gd name="connisteX2" fmla="*/ 3454400 w 3454400"/>
              <a:gd name="connsiteY2" fmla="*/ 1270000 h 1473200"/>
              <a:gd name="connisteX3" fmla="*/ 3251200 w 3454400"/>
              <a:gd name="connsiteY3" fmla="*/ 1473200 h 1473200"/>
              <a:gd name="connisteX4" fmla="*/ 203200 w 3454400"/>
              <a:gd name="connsiteY4" fmla="*/ 1473200 h 1473200"/>
              <a:gd name="connisteX5" fmla="*/ 0 w 3454400"/>
              <a:gd name="connsiteY5" fmla="*/ 1270000 h 1473200"/>
              <a:gd name="connisteX6" fmla="*/ 0 w 34544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473200">
                <a:moveTo>
                  <a:pt x="0" y="0"/>
                </a:moveTo>
                <a:lnTo>
                  <a:pt x="3454400" y="0"/>
                </a:lnTo>
                <a:lnTo>
                  <a:pt x="3454400" y="1270000"/>
                </a:lnTo>
                <a:cubicBezTo>
                  <a:pt x="3454400" y="1382224"/>
                  <a:pt x="3363424" y="1473200"/>
                  <a:pt x="32512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251200 h 3251200"/>
              <a:gd name="connisteX5" fmla="*/ 0 w 3454400"/>
              <a:gd name="connsiteY5" fmla="*/ 3251200 h 3251200"/>
              <a:gd name="connisteX6" fmla="*/ 0 w 3454400"/>
              <a:gd name="connsiteY6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251200"/>
                </a:lnTo>
                <a:lnTo>
                  <a:pt x="0" y="3251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5080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56388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1684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0292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88900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81534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8305800" y="34036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8305800" y="39116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81534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305800" y="51308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305800" y="56388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0132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0132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521200"/>
            <a:ext cx="3276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54356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54356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5943600"/>
            <a:ext cx="3276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66800" y="24130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66800" y="2971800"/>
            <a:ext cx="3124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066800" y="41910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66800" y="4749800"/>
            <a:ext cx="3124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左表下右内-装饰右叠-默认位置-并列-60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5659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553200" y="40894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553200" y="4597400"/>
            <a:ext cx="198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91567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144000" y="40894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9144000" y="4597400"/>
            <a:ext cx="198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1-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1016000" y="2159000"/>
            <a:ext cx="6352646" cy="2540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
添加文档标题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1016000" y="4749800"/>
            <a:ext cx="2540882" cy="533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1903677" y="2489200"/>
            <a:ext cx="8384646" cy="187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单击此处添加文档标题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4812859" y="4419600"/>
            <a:ext cx="2540882" cy="5334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1-1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4823354" y="2159000"/>
            <a:ext cx="6352646" cy="25400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
添加文档标题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8635118" y="4749800"/>
            <a:ext cx="2540882" cy="5334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1803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5130800" y="1701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1879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83050" y="4445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5130800" y="4343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86400" y="4521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114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5130800" y="1041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1219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083050" y="510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5130800" y="5003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5486400" y="5181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016000" y="3530600"/>
            <a:ext cx="6352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016000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4823883" y="3530600"/>
            <a:ext cx="6352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9648825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-3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1016000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-3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-3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5724878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306.xml"/><Relationship Id="rId38" Type="http://schemas.openxmlformats.org/officeDocument/2006/relationships/image" Target="../media/image1.png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0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2" Type="http://schemas.openxmlformats.org/officeDocument/2006/relationships/slideLayout" Target="../slideLayouts/slideLayout41.xml"/><Relationship Id="rId21" Type="http://schemas.openxmlformats.org/officeDocument/2006/relationships/tags" Target="../tags/tag332.xml"/><Relationship Id="rId20" Type="http://schemas.openxmlformats.org/officeDocument/2006/relationships/tags" Target="../tags/tag331.xml"/><Relationship Id="rId2" Type="http://schemas.openxmlformats.org/officeDocument/2006/relationships/tags" Target="../tags/tag313.xml"/><Relationship Id="rId19" Type="http://schemas.openxmlformats.org/officeDocument/2006/relationships/tags" Target="../tags/tag330.xml"/><Relationship Id="rId18" Type="http://schemas.openxmlformats.org/officeDocument/2006/relationships/tags" Target="../tags/tag329.xml"/><Relationship Id="rId17" Type="http://schemas.openxmlformats.org/officeDocument/2006/relationships/tags" Target="../tags/tag328.xml"/><Relationship Id="rId16" Type="http://schemas.openxmlformats.org/officeDocument/2006/relationships/tags" Target="../tags/tag327.xml"/><Relationship Id="rId15" Type="http://schemas.openxmlformats.org/officeDocument/2006/relationships/tags" Target="../tags/tag326.xml"/><Relationship Id="rId14" Type="http://schemas.openxmlformats.org/officeDocument/2006/relationships/tags" Target="../tags/tag325.xml"/><Relationship Id="rId13" Type="http://schemas.openxmlformats.org/officeDocument/2006/relationships/tags" Target="../tags/tag324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tags" Target="../tags/tag33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2.xml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339.xml"/><Relationship Id="rId31" Type="http://schemas.openxmlformats.org/officeDocument/2006/relationships/slideLayout" Target="../slideLayouts/slideLayout20.xml"/><Relationship Id="rId30" Type="http://schemas.openxmlformats.org/officeDocument/2006/relationships/tags" Target="../tags/tag357.xml"/><Relationship Id="rId3" Type="http://schemas.openxmlformats.org/officeDocument/2006/relationships/tags" Target="../tags/tag338.xml"/><Relationship Id="rId29" Type="http://schemas.openxmlformats.org/officeDocument/2006/relationships/tags" Target="../tags/tag356.xml"/><Relationship Id="rId28" Type="http://schemas.openxmlformats.org/officeDocument/2006/relationships/tags" Target="../tags/tag355.xml"/><Relationship Id="rId27" Type="http://schemas.openxmlformats.org/officeDocument/2006/relationships/image" Target="../media/image9.svg"/><Relationship Id="rId26" Type="http://schemas.openxmlformats.org/officeDocument/2006/relationships/image" Target="../media/image8.png"/><Relationship Id="rId25" Type="http://schemas.openxmlformats.org/officeDocument/2006/relationships/tags" Target="../tags/tag354.xml"/><Relationship Id="rId24" Type="http://schemas.openxmlformats.org/officeDocument/2006/relationships/tags" Target="../tags/tag353.xml"/><Relationship Id="rId23" Type="http://schemas.openxmlformats.org/officeDocument/2006/relationships/tags" Target="../tags/tag352.xml"/><Relationship Id="rId22" Type="http://schemas.openxmlformats.org/officeDocument/2006/relationships/tags" Target="../tags/tag351.xml"/><Relationship Id="rId21" Type="http://schemas.openxmlformats.org/officeDocument/2006/relationships/tags" Target="../tags/tag350.xml"/><Relationship Id="rId20" Type="http://schemas.openxmlformats.org/officeDocument/2006/relationships/image" Target="../media/image7.svg"/><Relationship Id="rId2" Type="http://schemas.openxmlformats.org/officeDocument/2006/relationships/tags" Target="../tags/tag337.xml"/><Relationship Id="rId19" Type="http://schemas.openxmlformats.org/officeDocument/2006/relationships/image" Target="../media/image6.png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344.xml"/><Relationship Id="rId10" Type="http://schemas.openxmlformats.org/officeDocument/2006/relationships/tags" Target="../tags/tag343.xml"/><Relationship Id="rId1" Type="http://schemas.openxmlformats.org/officeDocument/2006/relationships/tags" Target="../tags/tag33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6.xml"/><Relationship Id="rId8" Type="http://schemas.openxmlformats.org/officeDocument/2006/relationships/tags" Target="../tags/tag365.xml"/><Relationship Id="rId7" Type="http://schemas.openxmlformats.org/officeDocument/2006/relationships/tags" Target="../tags/tag364.xml"/><Relationship Id="rId6" Type="http://schemas.openxmlformats.org/officeDocument/2006/relationships/tags" Target="../tags/tag363.xml"/><Relationship Id="rId5" Type="http://schemas.openxmlformats.org/officeDocument/2006/relationships/tags" Target="../tags/tag362.xml"/><Relationship Id="rId4" Type="http://schemas.openxmlformats.org/officeDocument/2006/relationships/tags" Target="../tags/tag361.xml"/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2" Type="http://schemas.openxmlformats.org/officeDocument/2006/relationships/slideLayout" Target="../slideLayouts/slideLayout19.xml"/><Relationship Id="rId11" Type="http://schemas.openxmlformats.org/officeDocument/2006/relationships/tags" Target="../tags/tag368.xml"/><Relationship Id="rId10" Type="http://schemas.openxmlformats.org/officeDocument/2006/relationships/tags" Target="../tags/tag367.xml"/><Relationship Id="rId1" Type="http://schemas.openxmlformats.org/officeDocument/2006/relationships/tags" Target="../tags/tag35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tags" Target="../tags/tag36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tags" Target="../tags/tag384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tags" Target="../tags/tag37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6.xml"/><Relationship Id="rId8" Type="http://schemas.openxmlformats.org/officeDocument/2006/relationships/tags" Target="../tags/tag395.xml"/><Relationship Id="rId7" Type="http://schemas.openxmlformats.org/officeDocument/2006/relationships/tags" Target="../tags/tag394.xml"/><Relationship Id="rId6" Type="http://schemas.openxmlformats.org/officeDocument/2006/relationships/tags" Target="../tags/tag393.xml"/><Relationship Id="rId5" Type="http://schemas.openxmlformats.org/officeDocument/2006/relationships/tags" Target="../tags/tag392.xml"/><Relationship Id="rId4" Type="http://schemas.openxmlformats.org/officeDocument/2006/relationships/tags" Target="../tags/tag391.xml"/><Relationship Id="rId3" Type="http://schemas.openxmlformats.org/officeDocument/2006/relationships/image" Target="../media/image10.jpeg"/><Relationship Id="rId2" Type="http://schemas.openxmlformats.org/officeDocument/2006/relationships/tags" Target="../tags/tag390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397.xml"/><Relationship Id="rId1" Type="http://schemas.openxmlformats.org/officeDocument/2006/relationships/tags" Target="../tags/tag38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tags" Target="../tags/tag407.xml"/><Relationship Id="rId7" Type="http://schemas.openxmlformats.org/officeDocument/2006/relationships/tags" Target="../tags/tag406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4" Type="http://schemas.openxmlformats.org/officeDocument/2006/relationships/image" Target="../media/image11.jpeg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3" Type="http://schemas.openxmlformats.org/officeDocument/2006/relationships/slideLayout" Target="../slideLayouts/slideLayout16.xml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tags" Target="../tags/tag40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18.xml"/><Relationship Id="rId8" Type="http://schemas.openxmlformats.org/officeDocument/2006/relationships/tags" Target="../tags/tag417.xml"/><Relationship Id="rId7" Type="http://schemas.openxmlformats.org/officeDocument/2006/relationships/tags" Target="../tags/tag416.xml"/><Relationship Id="rId6" Type="http://schemas.openxmlformats.org/officeDocument/2006/relationships/tags" Target="../tags/tag415.xml"/><Relationship Id="rId5" Type="http://schemas.openxmlformats.org/officeDocument/2006/relationships/tags" Target="../tags/tag414.xml"/><Relationship Id="rId4" Type="http://schemas.openxmlformats.org/officeDocument/2006/relationships/tags" Target="../tags/tag413.xml"/><Relationship Id="rId3" Type="http://schemas.openxmlformats.org/officeDocument/2006/relationships/image" Target="../media/image13.jpeg"/><Relationship Id="rId2" Type="http://schemas.openxmlformats.org/officeDocument/2006/relationships/tags" Target="../tags/tag412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419.xml"/><Relationship Id="rId1" Type="http://schemas.openxmlformats.org/officeDocument/2006/relationships/tags" Target="../tags/tag4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422.xml"/><Relationship Id="rId2" Type="http://schemas.openxmlformats.org/officeDocument/2006/relationships/tags" Target="../tags/tag421.xml"/><Relationship Id="rId1" Type="http://schemas.openxmlformats.org/officeDocument/2006/relationships/tags" Target="../tags/tag42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image" Target="../media/image14.jpeg"/><Relationship Id="rId2" Type="http://schemas.openxmlformats.org/officeDocument/2006/relationships/tags" Target="../tags/tag424.xml"/><Relationship Id="rId1" Type="http://schemas.openxmlformats.org/officeDocument/2006/relationships/tags" Target="../tags/tag42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jpeg"/><Relationship Id="rId8" Type="http://schemas.openxmlformats.org/officeDocument/2006/relationships/tags" Target="../tags/tag436.xml"/><Relationship Id="rId7" Type="http://schemas.openxmlformats.org/officeDocument/2006/relationships/tags" Target="../tags/tag435.xml"/><Relationship Id="rId6" Type="http://schemas.openxmlformats.org/officeDocument/2006/relationships/tags" Target="../tags/tag434.xml"/><Relationship Id="rId5" Type="http://schemas.openxmlformats.org/officeDocument/2006/relationships/tags" Target="../tags/tag433.xml"/><Relationship Id="rId4" Type="http://schemas.openxmlformats.org/officeDocument/2006/relationships/image" Target="../media/image15.jpeg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439.xml"/><Relationship Id="rId11" Type="http://schemas.openxmlformats.org/officeDocument/2006/relationships/tags" Target="../tags/tag438.xml"/><Relationship Id="rId10" Type="http://schemas.openxmlformats.org/officeDocument/2006/relationships/tags" Target="../tags/tag437.xml"/><Relationship Id="rId1" Type="http://schemas.openxmlformats.org/officeDocument/2006/relationships/tags" Target="../tags/tag43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tags" Target="../tags/tag445.xml"/><Relationship Id="rId7" Type="http://schemas.openxmlformats.org/officeDocument/2006/relationships/image" Target="../media/image18.jpeg"/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4" Type="http://schemas.openxmlformats.org/officeDocument/2006/relationships/tags" Target="../tags/tag442.xml"/><Relationship Id="rId3" Type="http://schemas.openxmlformats.org/officeDocument/2006/relationships/image" Target="../media/image17.jpeg"/><Relationship Id="rId2" Type="http://schemas.openxmlformats.org/officeDocument/2006/relationships/tags" Target="../tags/tag441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447.xml"/><Relationship Id="rId1" Type="http://schemas.openxmlformats.org/officeDocument/2006/relationships/tags" Target="../tags/tag44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450.xml"/><Relationship Id="rId2" Type="http://schemas.openxmlformats.org/officeDocument/2006/relationships/tags" Target="../tags/tag449.xml"/><Relationship Id="rId1" Type="http://schemas.openxmlformats.org/officeDocument/2006/relationships/tags" Target="../tags/tag44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57.xml"/><Relationship Id="rId8" Type="http://schemas.openxmlformats.org/officeDocument/2006/relationships/tags" Target="../tags/tag456.xml"/><Relationship Id="rId7" Type="http://schemas.openxmlformats.org/officeDocument/2006/relationships/tags" Target="../tags/tag455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452.xml"/><Relationship Id="rId19" Type="http://schemas.openxmlformats.org/officeDocument/2006/relationships/tags" Target="../tags/tag467.xml"/><Relationship Id="rId18" Type="http://schemas.openxmlformats.org/officeDocument/2006/relationships/tags" Target="../tags/tag466.xml"/><Relationship Id="rId17" Type="http://schemas.openxmlformats.org/officeDocument/2006/relationships/tags" Target="../tags/tag465.xml"/><Relationship Id="rId16" Type="http://schemas.openxmlformats.org/officeDocument/2006/relationships/tags" Target="../tags/tag464.xml"/><Relationship Id="rId15" Type="http://schemas.openxmlformats.org/officeDocument/2006/relationships/tags" Target="../tags/tag463.xml"/><Relationship Id="rId14" Type="http://schemas.openxmlformats.org/officeDocument/2006/relationships/tags" Target="../tags/tag462.xml"/><Relationship Id="rId13" Type="http://schemas.openxmlformats.org/officeDocument/2006/relationships/tags" Target="../tags/tag461.xml"/><Relationship Id="rId12" Type="http://schemas.openxmlformats.org/officeDocument/2006/relationships/tags" Target="../tags/tag460.xml"/><Relationship Id="rId11" Type="http://schemas.openxmlformats.org/officeDocument/2006/relationships/tags" Target="../tags/tag459.xml"/><Relationship Id="rId10" Type="http://schemas.openxmlformats.org/officeDocument/2006/relationships/tags" Target="../tags/tag458.xml"/><Relationship Id="rId1" Type="http://schemas.openxmlformats.org/officeDocument/2006/relationships/tags" Target="../tags/tag45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" Type="http://schemas.openxmlformats.org/officeDocument/2006/relationships/tags" Target="../tags/tag46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tags" Target="../tags/tag473.xml"/><Relationship Id="rId2" Type="http://schemas.openxmlformats.org/officeDocument/2006/relationships/tags" Target="../tags/tag472.xml"/><Relationship Id="rId1" Type="http://schemas.openxmlformats.org/officeDocument/2006/relationships/tags" Target="../tags/tag4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2240386" y="3378835"/>
            <a:ext cx="7875058" cy="45720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2025/11/12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265430" y="2237105"/>
            <a:ext cx="11824970" cy="821055"/>
          </a:xfrm>
        </p:spPr>
        <p:txBody>
          <a:bodyPr>
            <a:noAutofit/>
          </a:bodyPr>
          <a:p>
            <a:r>
              <a:rPr lang="zh-CN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校园互助平台《需求规格说明书》</a:t>
            </a:r>
            <a:endParaRPr lang="zh-CN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7" name="圆角矩形 26"/>
          <p:cNvSpPr/>
          <p:nvPr>
            <p:custDataLst>
              <p:tags r:id="rId3"/>
            </p:custDataLst>
          </p:nvPr>
        </p:nvSpPr>
        <p:spPr>
          <a:xfrm>
            <a:off x="5300663" y="5621655"/>
            <a:ext cx="1754505" cy="348615"/>
          </a:xfrm>
          <a:prstGeom prst="roundRect">
            <a:avLst>
              <a:gd name="adj" fmla="val 50000"/>
            </a:avLst>
          </a:prstGeom>
          <a:solidFill>
            <a:srgbClr val="778C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5300980" y="5634355"/>
            <a:ext cx="1869440" cy="3384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演讲人：</a:t>
            </a:r>
            <a:r>
              <a:rPr lang="en-US" altLang="zh-CN" sz="1600" dirty="0" err="1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Yiqi</a:t>
            </a:r>
            <a:r>
              <a:rPr lang="en-US" altLang="zh-CN" sz="160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Fan</a:t>
            </a:r>
            <a:endParaRPr lang="en-US" altLang="zh-CN" sz="160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4988" y="4098925"/>
            <a:ext cx="62058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Team Name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overload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Course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EE308FZ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2025/10/29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CONTENTS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4600">
                <a:solidFill>
                  <a:schemeClr val="tx1"/>
                </a:solidFill>
              </a:rPr>
              <a:t>目录</a:t>
            </a:r>
            <a:endParaRPr lang="zh-CN" altLang="en-US" sz="4600">
              <a:solidFill>
                <a:schemeClr val="tx1"/>
              </a:solidFill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3" name="装饰  8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 b="1">
                <a:solidFill>
                  <a:schemeClr val="tx1"/>
                </a:solidFill>
              </a:rPr>
              <a:t>项目背景与目标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4" name="文本占位符 43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5" name="装饰  1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 b="1">
                <a:solidFill>
                  <a:schemeClr val="tx1"/>
                </a:solidFill>
              </a:rPr>
              <a:t>目标用户、范围与技术架构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文本占位符 45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7" name="装饰  4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 b="1">
                <a:solidFill>
                  <a:schemeClr val="tx1"/>
                </a:solidFill>
              </a:rPr>
              <a:t>核心功能详情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8" name="文本占位符 47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9" name="装饰  7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Autofit/>
          </a:bodyPr>
          <a:p>
            <a:r>
              <a:rPr lang="zh-CN" altLang="en-US" b="1"/>
              <a:t>关键特性、界面交互与验收规划</a:t>
            </a:r>
            <a:endParaRPr lang="zh-CN" altLang="en-US" b="1"/>
          </a:p>
        </p:txBody>
      </p:sp>
      <p:sp>
        <p:nvSpPr>
          <p:cNvPr id="50" name="文本占位符 49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1" name="装饰  0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Autofit/>
          </a:bodyPr>
          <a:p>
            <a:r>
              <a:rPr lang="zh-CN" altLang="en-US" b="1"/>
              <a:t>关键特性、界面交互与验收规划</a:t>
            </a:r>
            <a:endParaRPr lang="zh-CN" altLang="en-US" b="1"/>
          </a:p>
        </p:txBody>
      </p:sp>
      <p:sp>
        <p:nvSpPr>
          <p:cNvPr id="52" name="文本占位符 51"/>
          <p:cNvSpPr>
            <a:spLocks noGrp="1"/>
          </p:cNvSpPr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3" name="装饰  3"/>
          <p:cNvSpPr>
            <a:spLocks noGrp="1"/>
          </p:cNvSpPr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4" name="文本占位符 53"/>
          <p:cNvSpPr>
            <a:spLocks noGrp="1"/>
          </p:cNvSpPr>
          <p:nvPr>
            <p:ph type="body" idx="16397"/>
            <p:custDataLst>
              <p:tags r:id="rId20"/>
            </p:custDataLst>
          </p:nvPr>
        </p:nvSpPr>
        <p:spPr/>
        <p:txBody>
          <a:bodyPr>
            <a:noAutofit/>
          </a:bodyPr>
          <a:p>
            <a:r>
              <a:rPr lang="zh-CN" altLang="en-US" b="1"/>
              <a:t>致谢</a:t>
            </a:r>
            <a:endParaRPr lang="zh-CN" altLang="en-US" b="1"/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项目背景与目标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                                        </a:t>
            </a:r>
            <a:r>
              <a:rPr lang="zh-CN" altLang="en-US" b="1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</a:rPr>
              <a:t>校园</a:t>
            </a:r>
            <a:r>
              <a:rPr lang="zh-CN" altLang="en-US" b="1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</a:rPr>
              <a:t>现存痛点</a:t>
            </a:r>
            <a:endParaRPr lang="zh-CN" altLang="en-US" b="1">
              <a:ln w="15875"/>
              <a:gradFill>
                <a:gsLst>
                  <a:gs pos="0">
                    <a:schemeClr val="accent1">
                      <a:lumOff val="-19999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9"/>
                    </a:schemeClr>
                  </a:gs>
                </a:gsLst>
                <a:lin ang="0" scaled="0"/>
              </a:gradFill>
              <a:effectLst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7"/>
          <p:cNvPicPr>
            <a:picLocks noChangeAspect="1"/>
          </p:cNvPicPr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" y="1978660"/>
            <a:ext cx="487680" cy="48768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700" b="1">
                <a:solidFill>
                  <a:schemeClr val="tx1"/>
                </a:solidFill>
              </a:rPr>
              <a:t>二手交易渠道零散，信息不集中</a:t>
            </a:r>
            <a:endParaRPr lang="zh-CN" altLang="en-US" sz="1700" b="1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>
          <a:xfrm>
            <a:off x="2082800" y="2132965"/>
            <a:ext cx="3556000" cy="1219200"/>
          </a:xfrm>
        </p:spPr>
        <p:txBody>
          <a:bodyPr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校园内二手交易渠道零散，信息不集中，导致同学们在进行二手交易时难以找到合适的商品或买家，浪费了大量的时间和精力，影响了校园资源的有效流通。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 descr="2"/>
          <p:cNvPicPr>
            <a:picLocks noChangeAspect="1"/>
          </p:cNvPicPr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66560" y="1978660"/>
            <a:ext cx="487680" cy="48768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 b="1">
                <a:solidFill>
                  <a:schemeClr val="lt1"/>
                </a:solidFill>
              </a:rPr>
              <a:t>临时服务（跑腿、代购）对接困难</a:t>
            </a:r>
            <a:endParaRPr lang="zh-CN" altLang="en-US" b="1">
              <a:solidFill>
                <a:schemeClr val="lt1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>
          <a:xfrm>
            <a:off x="7721600" y="2141220"/>
            <a:ext cx="3556000" cy="1219200"/>
          </a:xfrm>
        </p:spPr>
        <p:txBody>
          <a:bodyPr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lt1"/>
                </a:solidFill>
              </a:rPr>
              <a:t>临时服务如跑腿、代购等在校园内对接困难，需求方难以找到合适的服务提供者，服务提供者也难以获取有效的需求信息，这使得校园生活中的临时服务需求难以得到及时满足。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3"/>
          <p:cNvPicPr>
            <a:picLocks noChangeAspect="1"/>
          </p:cNvPicPr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7760" y="4493260"/>
            <a:ext cx="487680" cy="48768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>
            <a:normAutofit/>
          </a:bodyPr>
          <a:p>
            <a:r>
              <a:rPr lang="zh-CN" altLang="en-US" sz="1700" b="1">
                <a:solidFill>
                  <a:schemeClr val="lt1"/>
                </a:solidFill>
              </a:rPr>
              <a:t>拼车出行效率低，地址信息模糊</a:t>
            </a:r>
            <a:endParaRPr lang="zh-CN" altLang="en-US" sz="1700" b="1">
              <a:solidFill>
                <a:schemeClr val="lt1"/>
              </a:solidFill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>
          <a:xfrm>
            <a:off x="2082800" y="4647565"/>
            <a:ext cx="3556000" cy="1219200"/>
          </a:xfrm>
        </p:spPr>
        <p:txBody>
          <a:bodyPr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lt1"/>
                </a:solidFill>
              </a:rPr>
              <a:t>拼车出行在校园中效率低，地址信息模糊，同学们难以找到合适的拼车伙伴，也无法准确知晓目的地信息，增加了出行的时间成本和不确定性，降低了出行效率。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10"/>
          <p:cNvPicPr>
            <a:picLocks noChangeAspect="1"/>
          </p:cNvPicPr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66560" y="4493260"/>
            <a:ext cx="487680" cy="48768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>
            <a:normAutofit/>
          </a:bodyPr>
          <a:p>
            <a:r>
              <a:rPr lang="zh-CN" altLang="en-US" sz="1700" b="1">
                <a:solidFill>
                  <a:schemeClr val="tx1"/>
                </a:solidFill>
              </a:rPr>
              <a:t>缺乏统一、安全的互助服务平台</a:t>
            </a:r>
            <a:endParaRPr lang="zh-CN" altLang="en-US" sz="1700" b="1">
              <a:solidFill>
                <a:schemeClr val="tx1"/>
              </a:solidFill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>
          <a:xfrm>
            <a:off x="7721600" y="4705350"/>
            <a:ext cx="3556000" cy="1219200"/>
          </a:xfrm>
        </p:spPr>
        <p:txBody>
          <a:bodyPr>
            <a:normAutofit fontScale="90000" lnSpcReduction="20000"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校园内缺乏统一、安全的互助服务平台，导致各类互助服务分散且缺乏保障，同学们在参与互助服务时面临信息不透明、交易不安全等问题，影响了互助服务的质量和效果。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                                             </a:t>
            </a: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核心目标</a:t>
            </a:r>
            <a:endParaRPr lang="zh-CN" altLang="en-US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01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2133600" y="1651000"/>
            <a:ext cx="9838690" cy="406400"/>
          </a:xfrm>
        </p:spPr>
        <p:txBody>
          <a:bodyPr>
            <a:norm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</a:rPr>
              <a:t>短期：整合二手交易、跑腿、代购、拼车功能，提升校园生活便利性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在短期内，校园互助平台将整合二手交易、跑腿、代购、拼车等功能，为同学们提供一站式服务，解决校园资源流通与服务对接痛点，提升校园生活的便利性和效率。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02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</a:rPr>
              <a:t>中期：覆盖60%师生，形成标准化校园互助服务模型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中期目标是使校园互助平台覆盖60%的师生，通过不断优化和完善服务流程，形成标准化的校园互助服务模型，为师生提供更加规范、高效的互助服务。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03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</a:rPr>
              <a:t>长期：拓展为跨场景社区互助平台，支持持续迭代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从长期来看，校园互助平台将拓展为跨场景社区互助平台，不仅服务于校园师生，还将覆盖周边社区，支持平台的持续迭代和功能拓展，以适应不断变化的市场需求。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目标用户、范围与技术架构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圆角矩形 14"/>
          <p:cNvSpPr/>
          <p:nvPr>
            <p:custDataLst>
              <p:tags r:id="rId1"/>
            </p:custDataLst>
          </p:nvPr>
        </p:nvSpPr>
        <p:spPr>
          <a:xfrm>
            <a:off x="466725" y="3227705"/>
            <a:ext cx="3475990" cy="25844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2"/>
            </p:custDataLst>
          </p:nvPr>
        </p:nvSpPr>
        <p:spPr>
          <a:xfrm>
            <a:off x="4342765" y="3227705"/>
            <a:ext cx="3475990" cy="25844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>
            <p:custDataLst>
              <p:tags r:id="rId3"/>
            </p:custDataLst>
          </p:nvPr>
        </p:nvSpPr>
        <p:spPr>
          <a:xfrm>
            <a:off x="8218805" y="3227705"/>
            <a:ext cx="3475990" cy="25844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4"/>
            </p:custDataLst>
          </p:nvPr>
        </p:nvSpPr>
        <p:spPr>
          <a:xfrm>
            <a:off x="609600" y="1020445"/>
            <a:ext cx="10972800" cy="6096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                                     </a:t>
            </a: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目标用户与应用范围</a:t>
            </a:r>
            <a:endParaRPr lang="zh-CN" altLang="en-US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01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>
          <a:xfrm>
            <a:off x="609600" y="3456305"/>
            <a:ext cx="32512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初期目标与覆盖范围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>
          <a:xfrm>
            <a:off x="551815" y="3964305"/>
            <a:ext cx="3251200" cy="1828800"/>
          </a:xfrm>
        </p:spPr>
        <p:txBody>
          <a:bodyPr/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在初期阶段，校园互助平台的目标用户为高校全体学生，覆盖单一高校全量学生。访问方式支持PC（Win10+/macOS12+）、H5，以满足学生在不同设备上的使用需求。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02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4470400" y="3456305"/>
            <a:ext cx="32512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中期目标与覆盖范围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>
          <a:xfrm>
            <a:off x="4412615" y="3964305"/>
            <a:ext cx="3251200" cy="1828800"/>
          </a:xfrm>
        </p:spPr>
        <p:txBody>
          <a:bodyPr/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中期阶段，目标用户扩展为学生和教职工，覆盖单一高校60%的师生。访问方式与初期相同，但会优化移动端适配，提升移动端用户的使用体验。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03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5"/>
            </p:custDataLst>
          </p:nvPr>
        </p:nvSpPr>
        <p:spPr>
          <a:xfrm>
            <a:off x="8331200" y="3456305"/>
            <a:ext cx="32512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长期目标与覆盖范围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6"/>
            </p:custDataLst>
          </p:nvPr>
        </p:nvSpPr>
        <p:spPr>
          <a:xfrm>
            <a:off x="8273415" y="3964305"/>
            <a:ext cx="3251200" cy="1828800"/>
          </a:xfrm>
        </p:spPr>
        <p:txBody>
          <a:bodyPr/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长期来看，目标用户进一步扩大到跨校学生和社区居民，覆盖多高校及周边社区。新增移动端（Android10+/iOS14+）访问方式，方便更用户使用平台服务。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803910"/>
            <a:ext cx="10972800" cy="609600"/>
          </a:xfrm>
        </p:spPr>
        <p:txBody>
          <a:bodyPr/>
          <a:p>
            <a:r>
              <a:rPr lang="zh-CN" altLang="en-US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                      系统技术架构</a:t>
            </a:r>
            <a:endParaRPr lang="zh-CN" alt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13" name="内容占位符 12" descr="7bc4002d-bd4e-11f0-9856-227f2426c66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1389" b="1389"/>
          <a:stretch>
            <a:fillRect/>
          </a:stretch>
        </p:blipFill>
        <p:spPr>
          <a:xfrm>
            <a:off x="856615" y="1809750"/>
            <a:ext cx="1047877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597085" y="4521200"/>
            <a:ext cx="50800" cy="1727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749485" y="4521200"/>
            <a:ext cx="50292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硬件要求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749485" y="5029200"/>
            <a:ext cx="5029200" cy="1219200"/>
          </a:xfrm>
        </p:spPr>
        <p:txBody>
          <a:bodyPr>
            <a:normAutofit lnSpcReduction="10000"/>
          </a:bodyPr>
          <a:p>
            <a:pPr marL="285750" indent="-285750" algn="just">
              <a:buFont typeface="Wingdings" panose="05000000000000000000" charset="0"/>
              <a:buChar char="p"/>
            </a:pPr>
            <a:r>
              <a:rPr lang="zh-CN" altLang="en-US">
                <a:solidFill>
                  <a:schemeClr val="tx1"/>
                </a:solidFill>
              </a:rPr>
              <a:t>详细描述：系统的硬件方面，服务器要求CPU≥8核、内存≥16GB等，客户端则有PC/移动端系统的相关要求，确保系统运行的稳定性和高效性，满足不同用户的使用需求。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6388285" y="4521200"/>
            <a:ext cx="50800" cy="1727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6540685" y="4521200"/>
            <a:ext cx="50292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软件组成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6540685" y="5029200"/>
            <a:ext cx="5029200" cy="1219200"/>
          </a:xfrm>
        </p:spPr>
        <p:txBody>
          <a:bodyPr>
            <a:normAutofit lnSpcReduction="10000"/>
          </a:bodyPr>
          <a:p>
            <a:pPr marL="285750" indent="-285750" algn="just">
              <a:buFont typeface="Wingdings" panose="05000000000000000000" charset="0"/>
              <a:buChar char="p"/>
            </a:pPr>
            <a:r>
              <a:rPr lang="zh-CN" altLang="en-US">
                <a:solidFill>
                  <a:schemeClr val="tx1"/>
                </a:solidFill>
              </a:rPr>
              <a:t>详细描述：软件部分包括后端的Java/Python、MySQL等，前端的Vue.js/React等，以及部署所需的Docker、Nginx。这些软件技术的组合，为平台的开发、运行和维护提供了有力支持。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核心功能详情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  </a:t>
            </a:r>
            <a:r>
              <a:rPr lang="zh-CN" altLang="en-US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</a:rPr>
              <a:t>用户与二手交易模块</a:t>
            </a:r>
            <a:endParaRPr lang="zh-CN" altLang="en-US">
              <a:ln w="15875"/>
              <a:gradFill>
                <a:gsLst>
                  <a:gs pos="0">
                    <a:schemeClr val="accent1">
                      <a:lumOff val="-19999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9"/>
                    </a:schemeClr>
                  </a:gs>
                </a:gsLst>
                <a:lin ang="0" scaled="0"/>
              </a:gradFill>
              <a:effectLst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xfrm>
            <a:off x="1010285" y="3556000"/>
            <a:ext cx="4933315" cy="2489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7c69dd08-bd4e-11f0-b3c7-aae7af7e455a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103" r="1103"/>
          <a:stretch>
            <a:fillRect/>
          </a:stretch>
        </p:blipFill>
        <p:spPr>
          <a:xfrm>
            <a:off x="1010285" y="1676400"/>
            <a:ext cx="4933315" cy="18796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1183005" y="3850640"/>
            <a:ext cx="47244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用户模块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1183005" y="4307840"/>
            <a:ext cx="4724400" cy="1828800"/>
          </a:xfrm>
        </p:spPr>
        <p:txBody>
          <a:bodyPr/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solidFill>
                  <a:schemeClr val="tx1"/>
                </a:solidFill>
              </a:rPr>
              <a:t>用户模块支持手机号或第三方（微信/QQ）登录，并绑定身份信息。校园用户需上传证件进行审核，由管理员负责认证。在个人中心，用户可管理自身信息、订单以及信用分。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6248400" y="1561465"/>
            <a:ext cx="5105400" cy="2654935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7c69dd86-bd4e-11f0-b3c7-aae7af7e455a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1103" r="1103"/>
          <a:stretch>
            <a:fillRect/>
          </a:stretch>
        </p:blipFill>
        <p:spPr>
          <a:xfrm>
            <a:off x="6248400" y="4216400"/>
            <a:ext cx="5105400" cy="1945005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6393180" y="1755775"/>
            <a:ext cx="47244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二手交易模块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6393180" y="2212975"/>
            <a:ext cx="4724400" cy="1828800"/>
          </a:xfrm>
        </p:spPr>
        <p:txBody>
          <a:bodyPr/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solidFill>
                  <a:schemeClr val="tx1"/>
                </a:solidFill>
              </a:rPr>
              <a:t>二手交易模块中，卖家可多图上传（≤5张）商品，填写分类、价格和交易方式进行发布。买家能通过筛选、搜索功能，按热度或时间排序浏览。交易流程为下单锁商品，卖家确认，收货后双方互评。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圆角矩形 11"/>
          <p:cNvSpPr/>
          <p:nvPr/>
        </p:nvSpPr>
        <p:spPr>
          <a:xfrm>
            <a:off x="8343265" y="1774190"/>
            <a:ext cx="3225800" cy="1602740"/>
          </a:xfrm>
          <a:prstGeom prst="roundRect">
            <a:avLst>
              <a:gd name="adj" fmla="val 124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764405" y="1774190"/>
            <a:ext cx="3225800" cy="1602740"/>
          </a:xfrm>
          <a:prstGeom prst="roundRect">
            <a:avLst>
              <a:gd name="adj" fmla="val 124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335915" y="1939290"/>
            <a:ext cx="4490720" cy="861695"/>
          </a:xfrm>
        </p:spPr>
        <p:txBody>
          <a:bodyPr/>
          <a:p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跑腿代购与拼车模块</a:t>
            </a:r>
            <a:endParaRPr lang="zh-CN" altLang="en-US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13" name="内容占位符 12" descr="7c0851da-bd4e-11f0-9856-227f2426c66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579" b="579"/>
          <a:stretch>
            <a:fillRect/>
          </a:stretch>
        </p:blipFill>
        <p:spPr>
          <a:xfrm>
            <a:off x="609600" y="3556000"/>
            <a:ext cx="10972800" cy="26924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 flipH="1">
            <a:off x="4570095" y="1496695"/>
            <a:ext cx="76200" cy="176911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4834890" y="1358900"/>
            <a:ext cx="2200910" cy="406400"/>
          </a:xfrm>
        </p:spPr>
        <p:txBody>
          <a:bodyPr/>
          <a:p>
            <a:pPr algn="l"/>
            <a:r>
              <a:rPr lang="zh-CN" altLang="en-US" b="1">
                <a:solidFill>
                  <a:schemeClr val="tx1"/>
                </a:solidFill>
              </a:rPr>
              <a:t>跑腿代购模块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4876165" y="1868805"/>
            <a:ext cx="3009900" cy="1565910"/>
          </a:xfrm>
        </p:spPr>
        <p:txBody>
          <a:bodyPr>
            <a:normAutofit lnSpcReduction="10000"/>
          </a:bodyPr>
          <a:p>
            <a:pPr algn="just"/>
            <a:r>
              <a:rPr lang="zh-CN" altLang="en-US">
                <a:solidFill>
                  <a:schemeClr val="tx1"/>
                </a:solidFill>
              </a:rPr>
              <a:t>跑腿代购模块里，需求方选择服务类型，填写地址、时间和金额后，生成“待接单”订单。执行者接单后，需上传取件照等进度信息，待发起者确认后完成订单。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8366760" y="1370330"/>
            <a:ext cx="30099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拼车模块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8456930" y="1811020"/>
            <a:ext cx="3009900" cy="1607185"/>
          </a:xfrm>
        </p:spPr>
        <p:txBody>
          <a:bodyPr>
            <a:normAutofit lnSpcReduction="20000"/>
          </a:bodyPr>
          <a:p>
            <a:pPr algn="just"/>
            <a:r>
              <a:rPr lang="zh-CN" altLang="en-US">
                <a:solidFill>
                  <a:schemeClr val="tx1"/>
                </a:solidFill>
              </a:rPr>
              <a:t>拼车模块支持发布者填写路线、时间、余座（≤5）和费用，联系方式会进行加密。用户申请报名，需经发布者审核，人数随之更新。发布者可修改信息、关闭招募，行程结束后标记“完成”。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装饰  2"/>
          <p:cNvSpPr>
            <a:spLocks noGrp="1"/>
          </p:cNvSpPr>
          <p:nvPr>
            <p:custDataLst>
              <p:tags r:id="rId9"/>
            </p:custDataLst>
          </p:nvPr>
        </p:nvSpPr>
        <p:spPr>
          <a:xfrm flipH="1">
            <a:off x="8167370" y="1496695"/>
            <a:ext cx="76200" cy="176911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b="1">
                <a:solidFill>
                  <a:schemeClr val="tx1"/>
                </a:solidFill>
              </a:rPr>
              <a:t>关键特性、界面交互与验收规划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3340735"/>
            <a:ext cx="10642600" cy="609600"/>
          </a:xfrm>
        </p:spPr>
        <p:txBody>
          <a:bodyPr/>
          <a:p>
            <a:pPr algn="ctr"/>
            <a:r>
              <a:rPr lang="zh-CN" altLang="en-US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关键特性</a:t>
            </a:r>
            <a:r>
              <a:rPr lang="en-US" altLang="zh-CN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——</a:t>
            </a:r>
            <a:r>
              <a:rPr lang="zh-CN" altLang="en-US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可用性与安全性</a:t>
            </a:r>
            <a:endParaRPr lang="zh-CN" alt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11" name="内容占位符 10" descr="7c754d6e-bd4e-11f0-bd11-3afdadfb4260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4034" b="4034"/>
          <a:stretch>
            <a:fillRect/>
          </a:stretch>
        </p:blipFill>
        <p:spPr>
          <a:xfrm>
            <a:off x="600710" y="1830705"/>
            <a:ext cx="10590530" cy="13208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可用性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校园互助平台在可用性方面表现出色，用户能3步触达核心功能，新用户上手时间≤5分钟。检索响应≤2秒，页面加载≤3秒，系统可用≥99.9%，还具备容错机制，格式错误会有提示，断网可重连恢复操作。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安全性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平台注重安全保障，密码采用MD5+salt加密，手机号脱敏处理。有异常登录提醒，能防SQL注入/XSS，日志存90天。支付仅对接第三方沙盒环境，不存真实信息，确保用户信息和资金安全。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31230" y="987425"/>
            <a:ext cx="5551170" cy="609600"/>
          </a:xfrm>
        </p:spPr>
        <p:txBody>
          <a:bodyPr>
            <a:normAutofit/>
          </a:bodyPr>
          <a:p>
            <a:pPr algn="l"/>
            <a:r>
              <a:rPr lang="zh-CN" altLang="en-US" b="1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</a:rPr>
              <a:t>界面与交互设计</a:t>
            </a:r>
            <a:endParaRPr lang="zh-CN" altLang="en-US" b="1">
              <a:ln w="15875"/>
              <a:gradFill>
                <a:gsLst>
                  <a:gs pos="0">
                    <a:schemeClr val="accent1">
                      <a:lumOff val="-19999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9"/>
                    </a:schemeClr>
                  </a:gs>
                </a:gsLst>
                <a:lin ang="0" scaled="0"/>
              </a:gradFill>
              <a:effectLst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xfrm>
            <a:off x="609600" y="1828800"/>
            <a:ext cx="5334000" cy="4419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7c97c164-bd4e-11f0-b6be-1ee4ea54eed1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538" b="538"/>
          <a:stretch>
            <a:fillRect/>
          </a:stretch>
        </p:blipFill>
        <p:spPr>
          <a:xfrm>
            <a:off x="914400" y="1983105"/>
            <a:ext cx="4724400" cy="2133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核心页面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校园互助平台的核心页面设计合理，首页包含搜索、功能入口、推荐及底部导航；商品发布页有信息输入、图片上传及发布/存草稿功能；订单详情页展示订单信息、双方脱敏信息及操作按钮。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6248400" y="1828800"/>
            <a:ext cx="5334000" cy="4419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7c97c15d-bd4e-11f0-b6be-1ee4ea54eed1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983" b="983"/>
          <a:stretch>
            <a:fillRect/>
          </a:stretch>
        </p:blipFill>
        <p:spPr>
          <a:xfrm>
            <a:off x="6553200" y="2011680"/>
            <a:ext cx="4724400" cy="2133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交互规则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在交互规则上，表单前会进行校验，错误提示标在输入框下方。重要操作需二次确认，列表支持下拉刷新/上拉加载，为用户提供了良好的操作体验和交互便利性。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49655" y="1071880"/>
            <a:ext cx="10972800" cy="6096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验收标准与后续规划</a:t>
            </a:r>
            <a:endParaRPr lang="zh-CN" altLang="en-US" b="1">
              <a:solidFill>
                <a:schemeClr val="tx1"/>
              </a:solidFill>
            </a:endParaRPr>
          </a:p>
        </p:txBody>
      </p:sp>
      <p:pic>
        <p:nvPicPr>
          <p:cNvPr id="15" name="内容占位符 14" descr="7c52faac-bd4e-11f0-b3c7-aae7af7e455a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103" r="1103"/>
          <a:stretch>
            <a:fillRect/>
          </a:stretch>
        </p:blipFill>
        <p:spPr>
          <a:xfrm>
            <a:off x="617855" y="198628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617855" y="4323080"/>
            <a:ext cx="53340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验收标准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17855" y="4840605"/>
            <a:ext cx="5334000" cy="1828800"/>
          </a:xfrm>
        </p:spPr>
        <p:txBody>
          <a:bodyPr/>
          <a:p>
            <a:pPr marL="285750" indent="-285750" algn="just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校园互助平台的验收标准严格，功能方面通过率≥98%，无致命bug，核心流程无断点；性能上并发≥1000正常，数据库查询≤500ms；兼容PC/移动端主流浏览器，无布局异常。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6" name="内容占位符 15" descr="7c52fb56-bd4e-11f0-b3c7-aae7af7e455a"/>
          <p:cNvPicPr>
            <a:picLocks noChangeAspect="1"/>
          </p:cNvPicPr>
          <p:nvPr>
            <p:ph idx="16391"/>
            <p:custDataLst>
              <p:tags r:id="rId6"/>
            </p:custDataLst>
          </p:nvPr>
        </p:nvPicPr>
        <p:blipFill>
          <a:blip r:embed="rId7"/>
          <a:srcRect l="1103" r="1103"/>
          <a:stretch>
            <a:fillRect/>
          </a:stretch>
        </p:blipFill>
        <p:spPr>
          <a:xfrm>
            <a:off x="6256655" y="198628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6256655" y="4323080"/>
            <a:ext cx="5334000" cy="4064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后续规划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6256655" y="4840605"/>
            <a:ext cx="5334000" cy="1828800"/>
          </a:xfrm>
        </p:spPr>
        <p:txBody>
          <a:bodyPr/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后续规划包括补充对接真实支付、加社区线下认证、优化推荐算法等内容。迭代周期为2周/次，会增加拍卖/技能交换功能，强化社区互动，以不断提升平台的功能和服务。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总结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圆角矩形 15"/>
          <p:cNvSpPr/>
          <p:nvPr>
            <p:custDataLst>
              <p:tags r:id="rId1"/>
            </p:custDataLst>
          </p:nvPr>
        </p:nvSpPr>
        <p:spPr>
          <a:xfrm>
            <a:off x="1443355" y="3924300"/>
            <a:ext cx="10210800" cy="6858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2"/>
            </p:custDataLst>
          </p:nvPr>
        </p:nvSpPr>
        <p:spPr>
          <a:xfrm>
            <a:off x="1443355" y="5566410"/>
            <a:ext cx="10210800" cy="6858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3"/>
            </p:custDataLst>
          </p:nvPr>
        </p:nvSpPr>
        <p:spPr>
          <a:xfrm>
            <a:off x="1443355" y="2282190"/>
            <a:ext cx="10210800" cy="6858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 descr="7b0a202020202262756c6c6574223a20227b5c2263617465676f727949645c223a5c225c222c5c2274656d706c61746549645c223a32303233313635387d220a7d0a"/>
          <p:cNvSpPr>
            <a:spLocks noGrp="1"/>
          </p:cNvSpPr>
          <p:nvPr>
            <p:ph type="ctrTitle" idx="16385"/>
            <p:custDataLst>
              <p:tags r:id="rId4"/>
            </p:custDataLst>
          </p:nvPr>
        </p:nvSpPr>
        <p:spPr>
          <a:xfrm>
            <a:off x="6096635" y="533400"/>
            <a:ext cx="3656965" cy="609600"/>
          </a:xfrm>
        </p:spPr>
        <p:txBody>
          <a:bodyPr/>
          <a:p>
            <a:pPr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altLang="zh-CN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 </a:t>
            </a:r>
            <a:r>
              <a:rPr lang="zh-CN" altLang="en-US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核心价值总结</a:t>
            </a:r>
            <a:endParaRPr lang="zh-CN" altLang="en-US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01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解决校园资源流通差、服务对接低效痛点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10"/>
            </p:custDataLst>
          </p:nvPr>
        </p:nvSpPr>
        <p:spPr/>
        <p:txBody>
          <a:bodyPr/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校园现存二手交易渠道零散、临时服务对接困难、拼车出行效率低等问题，该平台整合四大互助功能，能有效解决校园资源流通与服务对接的痛点，提升校园生活便利性。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02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以“便捷、安全、高效”为核心，优化用户体验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4"/>
            </p:custDataLst>
          </p:nvPr>
        </p:nvSpPr>
        <p:spPr/>
        <p:txBody>
          <a:bodyPr/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平台具有高可用性，3步触达核心功能，新用户上手快，检索和页面加载迅速，且具备高安全性，密码加密、防注入攻击等，以“便捷、安全、高效”为核心，优化了用户体验。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03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从校园拓展至社区，具备长期迭代能力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8"/>
            </p:custDataLst>
          </p:nvPr>
        </p:nvSpPr>
        <p:spPr/>
        <p:txBody>
          <a:bodyPr>
            <a:normAutofit lnSpcReduction="10000"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>
                <a:solidFill>
                  <a:schemeClr val="tx1"/>
                </a:solidFill>
              </a:rPr>
              <a:t>平台短期整合功能提升校园生活便利性，中期覆盖多数师生形成标准化模型，长期拓展为跨场景社区互助平台，具备持续迭代能力，可不断满足用户需求。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致谢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6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>
          <a:xfrm>
            <a:off x="3364971" y="2510155"/>
            <a:ext cx="5449358" cy="457200"/>
          </a:xfrm>
        </p:spPr>
        <p:txBody>
          <a:bodyPr>
            <a:noAutofit/>
          </a:bodyPr>
          <a:p>
            <a:r>
              <a:rPr lang="zh-CN" altLang="en-US" sz="3600" b="1">
                <a:solidFill>
                  <a:schemeClr val="tx1"/>
                </a:solidFill>
              </a:rPr>
              <a:t>THE END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88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谢谢观看</a:t>
            </a:r>
            <a:endParaRPr lang="zh-CN" altLang="en-US" sz="8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fff2f312dafec77d72a0bd5e6c92886761e097d"/>
  <p:tag name="KSO_WM_NEWLAYOUT_GROUP_ID" val="layout_27"/>
  <p:tag name="KSO_WM_NEWLAYOUT_ID" val="slide_bbec08b93f7bcfad"/>
</p:tagLst>
</file>

<file path=ppt/tags/tag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04eeaccbed1870d1d9dd2b23144c99a6e3c00f"/>
  <p:tag name="KSO_WM_NEWLAYOUT_GROUP_ID" val="layout_10009"/>
  <p:tag name="KSO_WM_NEWLAYOUT_ID" val="slide_6977251e26b74a7b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b3a789d61760d11822ec35605cea8e78484724"/>
  <p:tag name="KSO_WM_NEWLAYOUT_GROUP_ID" val="layout_48"/>
  <p:tag name="KSO_WM_NEWLAYOUT_ID" val="slide_10d253ff511e52b1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0934916e337d9f9d22f8970972fe2f08dd43e4b"/>
  <p:tag name="KSO_WM_NEWLAYOUT_GROUP_ID" val="layout_51"/>
  <p:tag name="KSO_WM_NEWLAYOUT_ID" val="slide_54fafa5e2dac5e66"/>
</p:tagLst>
</file>

<file path=ppt/tags/tag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c77599a69cc92cd435244120df8ea704408b33"/>
  <p:tag name="KSO_WM_NEWLAYOUT_GROUP_ID" val="layout_62"/>
  <p:tag name="KSO_WM_NEWLAYOUT_ID" val="slide_200f6023f42ff4b4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7a8e6db6455dcef4452f017605312b7f68b60"/>
  <p:tag name="KSO_WM_NEWLAYOUT_GROUP_ID" val="layout_26"/>
  <p:tag name="KSO_WM_NEWLAYOUT_ID" val="slide_351695b9d561403a"/>
</p:tagLst>
</file>

<file path=ppt/tags/tag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27481afe6963259fb99e00a969064dc59103a35"/>
  <p:tag name="KSO_WM_NEWLAYOUT_GROUP_ID" val="layout_42"/>
  <p:tag name="KSO_WM_NEWLAYOUT_ID" val="slide_612acce709c55489"/>
</p:tagLst>
</file>

<file path=ppt/tags/tag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1934ff2690dd82ba5b90f00275793bafda95d0"/>
  <p:tag name="KSO_WM_NEWLAYOUT_GROUP_ID" val="layout_49"/>
  <p:tag name="KSO_WM_NEWLAYOUT_ID" val="slide_c2bbdeee6f9d8775"/>
</p:tagLst>
</file>

<file path=ppt/tags/tag6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b944e711185a45c57463d1c8f787c1df25d100"/>
  <p:tag name="KSO_WM_NEWLAYOUT_GROUP_ID" val="layout_35"/>
  <p:tag name="KSO_WM_NEWLAYOUT_ID" val="slide_3a8d68c4cb9e2e1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cce937c5a596a8712352e754d50bc0fe3a6d4cf"/>
  <p:tag name="KSO_WM_NEWLAYOUT_GROUP_ID" val="layout_32"/>
  <p:tag name="KSO_WM_NEWLAYOUT_ID" val="slide_f95b87826d1fb558"/>
</p:tagLst>
</file>

<file path=ppt/tags/tag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9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6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7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0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02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8c0b16f05bad4cf6264deb6b74d3d959ec39660"/>
  <p:tag name="KSO_WM_NEWLAYOUT_GROUP_ID" val="layout_10007"/>
  <p:tag name="KSO_WM_NEWLAYOUT_ID" val="slide_5d74a312f6e6264e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12a676c8cf757079c1e940dcae7e51c692b63d8"/>
  <p:tag name="KSO_WM_NEWLAYOUT_GROUP_ID" val="layout_2"/>
  <p:tag name="KSO_WM_NEWLAYOUT_ID" val="slide_811204b3fc52f7bb"/>
</p:tagLst>
</file>

<file path=ppt/tags/tag1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cec4de5f6a0f8a70ac4869bc3d4cdb4e0a849"/>
  <p:tag name="KSO_WM_NEWLAYOUT_GROUP_ID" val="layout_34"/>
  <p:tag name="KSO_WM_NEWLAYOUT_ID" val="slide_a31d5fa52b571dd3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4026744eeebf903ab73a3a728b59c1e8fbf0f1"/>
  <p:tag name="KSO_WM_NEWLAYOUT_GROUP_ID" val="layout_30"/>
  <p:tag name="KSO_WM_NEWLAYOUT_ID" val="slide_3ec92465831fe5d3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96d4fe3f8ee5acb63dd26dd76dbef2d75a9da7"/>
  <p:tag name="KSO_WM_NEWLAYOUT_GROUP_ID" val="layout_6"/>
  <p:tag name="KSO_WM_NEWLAYOUT_ID" val="slide_7a264583a7e94701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05909b10db3aeb05681a9dd67aaad95a3d682a"/>
  <p:tag name="KSO_WM_NEWLAYOUT_GROUP_ID" val="layout_61"/>
  <p:tag name="KSO_WM_NEWLAYOUT_ID" val="slide_3886008763262cfd"/>
</p:tagLst>
</file>

<file path=ppt/tags/tag1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7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ab68626b09702f0f88ebdfb1c112c8fcf95b78c"/>
  <p:tag name="KSO_WM_NEWLAYOUT_GROUP_ID" val="layout_60"/>
  <p:tag name="KSO_WM_NEWLAYOUT_ID" val="slide_ba5a802a72b0d3ea"/>
</p:tagLst>
</file>

<file path=ppt/tags/tag1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4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1.xml><?xml version="1.0" encoding="utf-8"?>
<p:tagLst xmlns:p="http://schemas.openxmlformats.org/presentationml/2006/main">
  <p:tag name="KSO_WM_UNIT_TYPE" val="a"/>
</p:tagLst>
</file>

<file path=ppt/tags/tag17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17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633901c02a956a0bf9c12b37abc2357129fd3e6"/>
  <p:tag name="KSO_WM_NEWLAYOUT_ID" val="slide_d799d37ec7ee1a76"/>
</p:tagLst>
</file>

<file path=ppt/tags/tag174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17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17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c4331b4bac83d72409c556d53d6712f13322c60"/>
  <p:tag name="KSO_WM_NEWLAYOUT_ID" val="slide_7d1b418b74e2b859"/>
</p:tagLst>
</file>

<file path=ppt/tags/tag177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17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17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b75771a341d382fbb7024306d0259f51813f3a8"/>
  <p:tag name="KSO_WM_NEWLAYOUT_ID" val="slide_4b787e1769c53a6b"/>
</p:tagLst>
</file>

<file path=ppt/tags/tag180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273ed97d95f023ce0ab57be66cbddc62fd5f53e8"/>
  <p:tag name="KSO_WM_NEWLAYOUT_ID" val="slide_412a1f3c717d8f5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2a36f9384d322461d1823036c3bfde91d922236d"/>
  <p:tag name="KSO_WM_NEWLAYOUT_ID" val="slide_5e65b803a1c10ff4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7e6b07bcab9c1cbf1f0d1d33bb78f70e36032766"/>
  <p:tag name="KSO_WM_NEWLAYOUT_ID" val="slide_e1ac597c3f8feea9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3c0576c76ac09d8b00ffadf5a3dae502d7eee646"/>
  <p:tag name="KSO_WM_NEWLAYOUT_ID" val="slide_41030c1ef11493f6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34f39b0f57225eae2ab00d8816958fa6669c166"/>
  <p:tag name="KSO_WM_NEWLAYOUT_ID" val="slide_f6eba500053b1ebb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3a08ede37e44c7bf26bd4ab1678c2a61082d961"/>
  <p:tag name="KSO_WM_NEWLAYOUT_ID" val="slide_16e3c7e9f5c87664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a966edd601908493ea872df859186a58318e8e"/>
  <p:tag name="KSO_WM_NEWLAYOUT_ID" val="slide_063b19861dc0a508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f3e0c35c1ec2267373f9c62811257d1864d125a"/>
  <p:tag name="KSO_WM_NEWLAYOUT_ID" val="slide_61223ae7a7f7aefc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4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4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5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5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5_2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5_2"/>
  <p:tag name="KSO_WM_UNIT_TYPE" val="l_h_i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2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6_2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eb309bd17d524613f1f68b5a480977242146b93"/>
  <p:tag name="KSO_WM_NEWLAYOUT_ID" val="slide_0e3ab8503af4c08e"/>
</p:tagLst>
</file>

<file path=ppt/tags/tag2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2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2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2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5e089c6a8b7aaea6dcb501abd93ccdadc2518e2"/>
  <p:tag name="KSO_WM_NEWLAYOUT_ID" val="slide_d635315789958f2d"/>
</p:tagLst>
</file>

<file path=ppt/tags/tag2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30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30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b3727a3ccda6fbd62845b63ee57805b627527ac"/>
  <p:tag name="KSO_WM_NEWLAYOUT_ID" val="slide_06be46c9219ad451"/>
</p:tagLst>
</file>

<file path=ppt/tags/tag30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30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1ecc87f8bd910b3ae92edebe536c6cb385c8a01"/>
  <p:tag name="KSO_WM_NEWLAYOUT_ID" val="slide_47de9d0eaa58c516"/>
</p:tagLst>
</file>

<file path=ppt/tags/tag30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30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088e9d5e780c32602ffa87ee411d7ed631decd8"/>
  <p:tag name="KSO_WM_NEWLAYOUT_ID" val="slide_2f1bc384a532e0ce"/>
</p:tagLst>
</file>

<file path=ppt/tags/tag306.xml><?xml version="1.0" encoding="utf-8"?>
<p:tagLst xmlns:p="http://schemas.openxmlformats.org/presentationml/2006/main">
  <p:tag name="KSO_WM_AITEMPLATE_STYLE_ID" val="0"/>
</p:tagLst>
</file>

<file path=ppt/tags/tag30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30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c4331b4bac83d72409c556d53d6712f13322c60"/>
  <p:tag name="KSO_WM_NEWLAYOUT_ID" val="slide_7d1b418b74e2b859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3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5_2"/>
  <p:tag name="KSO_WM_UNIT_TYPE" val="l_h_i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3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6_2"/>
  <p:tag name="KSO_WM_UNIT_TYPE" val="l_h_i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32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SLIDE_ID" val="slide_ba60fb0293b23fda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335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cce937c5a596a8712352e754d50bc0fe3a6d4cf"/>
  <p:tag name="KSO_WM_NEWLAYOUT_GROUP_ID" val="layout_32"/>
  <p:tag name="KSO_WM_NEWLAYOUT_ID" val="slide_f95b87826d1fb558"/>
  <p:tag name="KSO_WM_UNIT_PRESET_TEXT" val="单击此处添加标题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3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4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34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4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349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5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354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f95b87826d1fb558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b944e711185a45c57463d1c8f787c1df25d100"/>
  <p:tag name="KSO_WM_NEWLAYOUT_GROUP_ID" val="layout_35"/>
  <p:tag name="KSO_WM_NEWLAYOUT_ID" val="slide_3a8d68c4cb9e2e1d"/>
  <p:tag name="KSO_WM_UNIT_PRESET_TEXT" val="单击此处添加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3a8d68c4cb9e2e1d"/>
</p:tagLst>
</file>

<file path=ppt/tags/tag3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371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372.xml><?xml version="1.0" encoding="utf-8"?>
<p:tagLst xmlns:p="http://schemas.openxmlformats.org/presentationml/2006/main">
  <p:tag name="KSO_WM_DIAGRAM_VIRTUALLY_FRAME" val="{&quot;height&quot;:289.65,&quot;left&quot;:36.75,&quot;top&quot;:168,&quot;width&quot;:884.1}"/>
</p:tagLst>
</file>

<file path=ppt/tags/tag373.xml><?xml version="1.0" encoding="utf-8"?>
<p:tagLst xmlns:p="http://schemas.openxmlformats.org/presentationml/2006/main">
  <p:tag name="KSO_WM_DIAGRAM_VIRTUALLY_FRAME" val="{&quot;height&quot;:289.65,&quot;left&quot;:36.75,&quot;top&quot;:168,&quot;width&quot;:884.1}"/>
</p:tagLst>
</file>

<file path=ppt/tags/tag374.xml><?xml version="1.0" encoding="utf-8"?>
<p:tagLst xmlns:p="http://schemas.openxmlformats.org/presentationml/2006/main">
  <p:tag name="KSO_WM_DIAGRAM_VIRTUALLY_FRAME" val="{&quot;height&quot;:289.65,&quot;left&quot;:36.75,&quot;top&quot;:168,&quot;width&quot;:884.1}"/>
</p:tagLst>
</file>

<file path=ppt/tags/tag3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1934ff2690dd82ba5b90f00275793bafda95d0"/>
  <p:tag name="KSO_WM_NEWLAYOUT_GROUP_ID" val="layout_49"/>
  <p:tag name="KSO_WM_NEWLAYOUT_ID" val="slide_c2bbdeee6f9d8775"/>
  <p:tag name="KSO_WM_UNIT_PRESET_TEXT" val="单击此处添加标题"/>
</p:tagLst>
</file>

<file path=ppt/tags/tag37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  <p:tag name="KSO_WM_DIAGRAM_VIRTUALLY_FRAME" val="{&quot;height&quot;:289.65,&quot;left&quot;:36.75,&quot;top&quot;:168,&quot;width&quot;:884.1}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  <p:tag name="KSO_WM_DIAGRAM_VIRTUALLY_FRAME" val="{&quot;height&quot;:289.65,&quot;left&quot;:36.75,&quot;top&quot;:168,&quot;width&quot;:884.1}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289.65,&quot;left&quot;:36.75,&quot;top&quot;:168,&quot;width&quot;:884.1}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289.65,&quot;left&quot;:36.75,&quot;top&quot;:168,&quot;width&quot;:884.1}"/>
</p:tagLst>
</file>

<file path=ppt/tags/tag38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  <p:tag name="KSO_WM_DIAGRAM_VIRTUALLY_FRAME" val="{&quot;height&quot;:289.65,&quot;left&quot;:36.75,&quot;top&quot;:168,&quot;width&quot;:884.1}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  <p:tag name="KSO_WM_DIAGRAM_VIRTUALLY_FRAME" val="{&quot;height&quot;:289.65,&quot;left&quot;:36.75,&quot;top&quot;:168,&quot;width&quot;:884.1}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289.65,&quot;left&quot;:36.75,&quot;top&quot;:168,&quot;width&quot;:884.1}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289.65,&quot;left&quot;:36.75,&quot;top&quot;:168,&quot;width&quot;:884.1}"/>
</p:tagLst>
</file>

<file path=ppt/tags/tag38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  <p:tag name="KSO_WM_DIAGRAM_VIRTUALLY_FRAME" val="{&quot;height&quot;:289.65,&quot;left&quot;:36.75,&quot;top&quot;:168,&quot;width&quot;:884.1}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  <p:tag name="KSO_WM_DIAGRAM_VIRTUALLY_FRAME" val="{&quot;height&quot;:289.65,&quot;left&quot;:36.75,&quot;top&quot;:168,&quot;width&quot;:884.1}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DIAGRAM_VIRTUALLY_FRAME" val="{&quot;height&quot;:289.65,&quot;left&quot;:36.75,&quot;top&quot;:168,&quot;width&quot;:884.1}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289.65,&quot;left&quot;:36.75,&quot;top&quot;:168,&quot;width&quot;:884.1}"/>
</p:tagLst>
</file>

<file path=ppt/tags/tag38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c2bbdeee6f9d8775"/>
</p:tagLst>
</file>

<file path=ppt/tags/tag3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27481afe6963259fb99e00a969064dc59103a35"/>
  <p:tag name="KSO_WM_NEWLAYOUT_GROUP_ID" val="layout_42"/>
  <p:tag name="KSO_WM_NEWLAYOUT_ID" val="slide_612acce709c55489"/>
  <p:tag name="KSO_WM_UNIT_PRESET_TEXT" val="单击此处添加标题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1/c3ba1253-e55e-4d9f-bf8e-b70285411b36.jpg?Expires=1794216522\u0026AWSAccessKeyId=AKLT9NSy7kh8TIS1UzNqLRY2\u0026Signature=7rmxXHpZTfrtBtdqjDyK6lmsihU%3D&quot;,&quot;product_name&quot;:&quot;kdocs-wpp-wpspc&quot;,&quot;intention_code&quot;:&quot;kdocs_wpp_generate_outline_pay&quot;}*auto_qingqiu_ai_v2.1.6_ONLINE*6430363030633632626231303435373663626466363735343265393466623536-slide-17"/>
</p:tagLst>
</file>

<file path=ppt/tags/tag39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612acce709c55489"/>
</p:tagLst>
</file>

<file path=ppt/tags/tag3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00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7a8e6db6455dcef4452f017605312b7f68b60"/>
  <p:tag name="KSO_WM_NEWLAYOUT_GROUP_ID" val="layout_26"/>
  <p:tag name="KSO_WM_NEWLAYOUT_ID" val="slide_351695b9d561403a"/>
  <p:tag name="KSO_WM_UNIT_PRESET_TEXT" val="单击此处添加标题"/>
</p:tagLst>
</file>

<file path=ppt/tags/tag4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1/a6bfbbbc-f245-4910-add0-3b1bbc2db52e.jpg?Expires=1794216524\u0026AWSAccessKeyId=AKLT9NSy7kh8TIS1UzNqLRY2\u0026Signature=XUZZldZqOfSxqYmu%2B0Ipl%2B0W1qw%3D&quot;,&quot;product_name&quot;:&quot;kdocs-wpp-wpspc&quot;,&quot;intention_code&quot;:&quot;kdocs_wpp_generate_outline_pay&quot;}*auto_qingqiu_ai_v2.1.6_ONLINE*6430363030633632626231303435373663626466363735343265393466623536-slide-19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1/8e334600-fe37-452b-90b1-f67db6995860.jpg?Expires=1794216523\u0026AWSAccessKeyId=AKLT9NSy7kh8TIS1UzNqLRY2\u0026Signature=1D4zBXiMcb3EvitkZZmGfNDMJIY%3D&quot;,&quot;product_name&quot;:&quot;kdocs-wpp-wpspc&quot;,&quot;intention_code&quot;:&quot;kdocs_wpp_generate_outline_pay&quot;}*auto_qingqiu_ai_v2.1.6_ONLINE*6430363030633632626231303435373663626466363735343265393466623536-slide-19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351695b9d561403a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c77599a69cc92cd435244120df8ea704408b33"/>
  <p:tag name="KSO_WM_NEWLAYOUT_GROUP_ID" val="layout_62"/>
  <p:tag name="KSO_WM_NEWLAYOUT_ID" val="slide_200f6023f42ff4b4"/>
  <p:tag name="KSO_WM_UNIT_PRESET_TEXT" val="单击此处添加标题"/>
</p:tagLst>
</file>

<file path=ppt/tags/tag4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1/3b8911d0-59e3-4064-afa9-93df248eaa31.jpg?Expires=1794216523\u0026AWSAccessKeyId=AKLT9NSy7kh8TIS1UzNqLRY2\u0026Signature=1Uc8g5bRtfaLwIr8gV6BS0SfdTw%3D&quot;,&quot;product_name&quot;:&quot;kdocs-wpp-wpspc&quot;,&quot;intention_code&quot;:&quot;kdocs_wpp_generate_outline_pay&quot;}*auto_qingqiu_ai_v2.1.6_ONLINE*6430363030633632626231303435373663626466363735343265393466623536-slide-20"/>
</p:tagLst>
</file>

<file path=ppt/tags/tag41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200f6023f42ff4b4"/>
</p:tagLst>
</file>

<file path=ppt/tags/tag4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4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22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0934916e337d9f9d22f8970972fe2f08dd43e4b"/>
  <p:tag name="KSO_WM_NEWLAYOUT_GROUP_ID" val="layout_51"/>
  <p:tag name="KSO_WM_NEWLAYOUT_ID" val="slide_54fafa5e2dac5e66"/>
  <p:tag name="KSO_WM_UNIT_PRESET_TEXT" val="单击此处添加标题"/>
</p:tagLst>
</file>

<file path=ppt/tags/tag4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1/c5cea04d-abed-4d08-81f5-3e80bb5ae895.jpg?Expires=1794216524\u0026AWSAccessKeyId=AKLT9NSy7kh8TIS1UzNqLRY2\u0026Signature=Sh4Hqq16m8j33V%2F%2BsU5oJdXy950%3D&quot;,&quot;product_name&quot;:&quot;kdocs-wpp-wpspc&quot;,&quot;intention_code&quot;:&quot;kdocs_wpp_generate_outline_pay&quot;}*auto_qingqiu_ai_v2.1.6_ONLINE*6430363030633632626231303435373663626466363735343265393466623536-slide-22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54fafa5e2dac5e66"/>
</p:tagLst>
</file>

<file path=ppt/tags/tag4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b3a789d61760d11822ec35605cea8e78484724"/>
  <p:tag name="KSO_WM_NEWLAYOUT_GROUP_ID" val="layout_48"/>
  <p:tag name="KSO_WM_NEWLAYOUT_ID" val="slide_10d253ff511e52b1"/>
  <p:tag name="KSO_WM_UNIT_PRESET_TEXT" val="单击此处添加标题"/>
</p:tagLst>
</file>

<file path=ppt/tags/tag4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1/12d05b90-9423-49bb-97e5-d4dff8fcd1b2.jpg?Expires=1794216524\u0026AWSAccessKeyId=AKLT9NSy7kh8TIS1UzNqLRY2\u0026Signature=OFQHj%2FoNnNl9x1xrE%2BVbfGwdNp4%3D&quot;,&quot;product_name&quot;:&quot;kdocs-wpp-wpspc&quot;,&quot;intention_code&quot;:&quot;kdocs_wpp_generate_outline_pay&quot;}*auto_qingqiu_ai_v2.1.6_ONLINE*6430363030633632626231303435373663626466363735343265393466623536-slide-23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1/8a0bb8f1-4a68-4250-acf5-d94b00fb7b51.jpg?Expires=1794216524\u0026AWSAccessKeyId=AKLT9NSy7kh8TIS1UzNqLRY2\u0026Signature=cNB6Z7yFVbr%2Blhn2OegInhg5m4Y%3D&quot;,&quot;product_name&quot;:&quot;kdocs-wpp-wpspc&quot;,&quot;intention_code&quot;:&quot;kdocs_wpp_generate_outline_pay&quot;}*auto_qingqiu_ai_v2.1.6_ONLINE*6430363030633632626231303435373663626466363735343265393466623536-slide-23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10d253ff511e52b1"/>
</p:tagLst>
</file>

<file path=ppt/tags/tag4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04eeaccbed1870d1d9dd2b23144c99a6e3c00f"/>
  <p:tag name="KSO_WM_NEWLAYOUT_GROUP_ID" val="layout_10009"/>
  <p:tag name="KSO_WM_NEWLAYOUT_ID" val="slide_6977251e26b74a7b"/>
  <p:tag name="KSO_WM_UNIT_PRESET_TEXT" val="单击此处添加标题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1/81ed5e08-0b2f-4b9f-a7f0-9383b66ae350.jpg?Expires=1794216523\u0026AWSAccessKeyId=AKLT9NSy7kh8TIS1UzNqLRY2\u0026Signature=doks2zbps74monWNdQ0uz23IK3U%3D&quot;,&quot;product_name&quot;:&quot;kdocs-wpp-wpspc&quot;,&quot;intention_code&quot;:&quot;kdocs_wpp_generate_outline_pay&quot;}*auto_qingqiu_ai_v2.1.6_ONLINE*6430363030633632626231303435373663626466363735343265393466623536-slide-24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1/0693e891-af2c-4613-9b07-8acc0f122251.jpg?Expires=1794216523\u0026AWSAccessKeyId=AKLT9NSy7kh8TIS1UzNqLRY2\u0026Signature=yqMKiliCXSl3LFlIoEChYoLnIx0%3D&quot;,&quot;product_name&quot;:&quot;kdocs-wpp-wpspc&quot;,&quot;intention_code&quot;:&quot;kdocs_wpp_generate_outline_pay&quot;}*auto_qingqiu_ai_v2.1.6_ONLINE*6430363030633632626231303435373663626466363735343265393466623536-slide-24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6977251e26b74a7b"/>
</p:tagLst>
</file>

<file path=ppt/tags/tag4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4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50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51.xml><?xml version="1.0" encoding="utf-8"?>
<p:tagLst xmlns:p="http://schemas.openxmlformats.org/presentationml/2006/main">
  <p:tag name="KSO_WM_DIAGRAM_VIRTUALLY_FRAME" val="{&quot;height&quot;:348.3,&quot;left&quot;:48,&quot;top&quot;:144,&quot;width&quot;:879.65}"/>
</p:tagLst>
</file>

<file path=ppt/tags/tag452.xml><?xml version="1.0" encoding="utf-8"?>
<p:tagLst xmlns:p="http://schemas.openxmlformats.org/presentationml/2006/main">
  <p:tag name="KSO_WM_DIAGRAM_VIRTUALLY_FRAME" val="{&quot;height&quot;:348.3,&quot;left&quot;:48,&quot;top&quot;:144,&quot;width&quot;:879.65}"/>
</p:tagLst>
</file>

<file path=ppt/tags/tag453.xml><?xml version="1.0" encoding="utf-8"?>
<p:tagLst xmlns:p="http://schemas.openxmlformats.org/presentationml/2006/main">
  <p:tag name="KSO_WM_DIAGRAM_VIRTUALLY_FRAME" val="{&quot;height&quot;:348.3,&quot;left&quot;:48,&quot;top&quot;:144,&quot;width&quot;:879.65}"/>
</p:tagLst>
</file>

<file path=ppt/tags/tag4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fff2f312dafec77d72a0bd5e6c92886761e097d"/>
  <p:tag name="KSO_WM_NEWLAYOUT_GROUP_ID" val="layout_27"/>
  <p:tag name="KSO_WM_NEWLAYOUT_ID" val="slide_bbec08b93f7bcfad"/>
  <p:tag name="KSO_WM_UNIT_PRESET_TEXT" val="单击此处添加标题"/>
</p:tagLst>
</file>

<file path=ppt/tags/tag45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  <p:tag name="KSO_WM_DIAGRAM_VIRTUALLY_FRAME" val="{&quot;height&quot;:348.3,&quot;left&quot;:48,&quot;top&quot;:144,&quot;width&quot;:879.65}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  <p:tag name="KSO_WM_DIAGRAM_VIRTUALLY_FRAME" val="{&quot;height&quot;:348.3,&quot;left&quot;:48,&quot;top&quot;:144,&quot;width&quot;:879.65}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348.3,&quot;left&quot;:48,&quot;top&quot;:144,&quot;width&quot;:879.65}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348.3,&quot;left&quot;:48,&quot;top&quot;:144,&quot;width&quot;:879.65}"/>
</p:tagLst>
</file>

<file path=ppt/tags/tag45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  <p:tag name="KSO_WM_DIAGRAM_VIRTUALLY_FRAME" val="{&quot;height&quot;:348.3,&quot;left&quot;:48,&quot;top&quot;:144,&quot;width&quot;:879.65}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  <p:tag name="KSO_WM_DIAGRAM_VIRTUALLY_FRAME" val="{&quot;height&quot;:348.3,&quot;left&quot;:48,&quot;top&quot;:144,&quot;width&quot;:879.65}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348.3,&quot;left&quot;:48,&quot;top&quot;:144,&quot;width&quot;:879.65}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348.3,&quot;left&quot;:48,&quot;top&quot;:144,&quot;width&quot;:879.65}"/>
</p:tagLst>
</file>

<file path=ppt/tags/tag46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  <p:tag name="KSO_WM_DIAGRAM_VIRTUALLY_FRAME" val="{&quot;height&quot;:348.3,&quot;left&quot;:48,&quot;top&quot;:144,&quot;width&quot;:879.65}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  <p:tag name="KSO_WM_DIAGRAM_VIRTUALLY_FRAME" val="{&quot;height&quot;:348.3,&quot;left&quot;:48,&quot;top&quot;:144,&quot;width&quot;:879.65}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DIAGRAM_VIRTUALLY_FRAME" val="{&quot;height&quot;:348.3,&quot;left&quot;:48,&quot;top&quot;:144,&quot;width&quot;:879.65}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348.3,&quot;left&quot;:48,&quot;top&quot;:144,&quot;width&quot;:879.65}"/>
</p:tagLst>
</file>

<file path=ppt/tags/tag46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bbec08b93f7bcfad"/>
</p:tagLst>
</file>

<file path=ppt/tags/tag4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4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70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7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47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1ecc87f8bd910b3ae92edebe536c6cb385c8a01"/>
  <p:tag name="KSO_WM_NEWLAYOUT_ID" val="slide_47de9d0eaa58c516"/>
</p:tagLst>
</file>

<file path=ppt/tags/tag473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1B3F55"/>
      </a:dk2>
      <a:lt2>
        <a:srgbClr val="E5F0F7"/>
      </a:lt2>
      <a:accent1>
        <a:srgbClr val="69A8CF"/>
      </a:accent1>
      <a:accent2>
        <a:srgbClr val="DF6F63"/>
      </a:accent2>
      <a:accent3>
        <a:srgbClr val="928395"/>
      </a:accent3>
      <a:accent4>
        <a:srgbClr val="D2CD70"/>
      </a:accent4>
      <a:accent5>
        <a:srgbClr val="AC83C3"/>
      </a:accent5>
      <a:accent6>
        <a:srgbClr val="90A8C6"/>
      </a:accent6>
      <a:hlink>
        <a:srgbClr val="304FFE"/>
      </a:hlink>
      <a:folHlink>
        <a:srgbClr val="492067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2799</Words>
  <Application>WPS 演示</Application>
  <PresentationFormat>宽屏</PresentationFormat>
  <Paragraphs>236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Microsoft YaHei UI</vt:lpstr>
      <vt:lpstr>Arial Unicode MS</vt:lpstr>
      <vt:lpstr>Calibri</vt:lpstr>
      <vt:lpstr>Wingdings</vt:lpstr>
      <vt:lpstr>思源黑体 CN Normal</vt:lpstr>
      <vt:lpstr>黑体</vt:lpstr>
      <vt:lpstr>Times New Roman</vt:lpstr>
      <vt:lpstr>Office 主题</vt:lpstr>
      <vt:lpstr>WPS</vt:lpstr>
      <vt:lpstr>校园互助平台《需求规格说明书.》）</vt:lpstr>
      <vt:lpstr>目录</vt:lpstr>
      <vt:lpstr>项目背景与目标</vt:lpstr>
      <vt:lpstr>                                        校园现存痛点</vt:lpstr>
      <vt:lpstr>                                             核心目标</vt:lpstr>
      <vt:lpstr>目标用户、范围与技术架构</vt:lpstr>
      <vt:lpstr>                                     目标用户与应用范围</vt:lpstr>
      <vt:lpstr>                                                系统技术架构</vt:lpstr>
      <vt:lpstr>核心功能详情</vt:lpstr>
      <vt:lpstr>                                       用户与二手交易模块</vt:lpstr>
      <vt:lpstr>跑腿代购与拼车模块</vt:lpstr>
      <vt:lpstr>关键特性、界面交互与验收规划</vt:lpstr>
      <vt:lpstr>关键特性（可用性与安全性）</vt:lpstr>
      <vt:lpstr>                                      界面与交互设计</vt:lpstr>
      <vt:lpstr>                                  验收标准与后续规划</vt:lpstr>
      <vt:lpstr>总结</vt:lpstr>
      <vt:lpstr>                                        核心价值总结</vt:lpstr>
      <vt:lpstr>致谢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校园互助平台《需求规格说明书》</dc:title>
  <dc:creator/>
  <cp:lastModifiedBy>cdh</cp:lastModifiedBy>
  <cp:revision>2</cp:revision>
  <dcterms:created xsi:type="dcterms:W3CDTF">2025-11-11T11:15:37Z</dcterms:created>
  <dcterms:modified xsi:type="dcterms:W3CDTF">2025-11-11T11:27:07Z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FAB07243032549F2849DD81F7AC20831_13</vt:lpwstr>
  </property>
</Properties>
</file>